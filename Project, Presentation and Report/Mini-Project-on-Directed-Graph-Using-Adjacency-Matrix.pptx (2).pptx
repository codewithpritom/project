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oppins Bold" panose="020B0604020202020204" charset="0"/>
      <p:regular r:id="rId20"/>
    </p:embeddedFont>
    <p:embeddedFont>
      <p:font typeface="Poppins Light" panose="00000400000000000000" pitchFamily="2" charset="0"/>
      <p:regular r:id="rId21"/>
    </p:embeddedFont>
    <p:embeddedFont>
      <p:font typeface="Poppins Light Bold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16.12.2025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-857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3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28700" y="1009650"/>
            <a:ext cx="9445526" cy="2614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Mini Project on Directed Graph Using Adjacency Matrix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4977259"/>
            <a:ext cx="10437762" cy="45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371" spc="59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Course: CSE 106 – Discrete Mathematics Mini Project 1 (Odd Group)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2238" y="5821458"/>
            <a:ext cx="10437762" cy="46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2417" spc="60">
                <a:solidFill>
                  <a:srgbClr val="000000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Team Name: AlgoAvengers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6675181"/>
            <a:ext cx="10437762" cy="19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417" spc="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Members: </a:t>
            </a:r>
          </a:p>
          <a:p>
            <a:pPr marL="521894" lvl="1" indent="-260947" algn="l">
              <a:lnSpc>
                <a:spcPts val="3935"/>
              </a:lnSpc>
              <a:buFont typeface="Arial"/>
              <a:buChar char="•"/>
            </a:pPr>
            <a:r>
              <a:rPr lang="en-US" sz="2417" spc="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Arup Bhowmik Pritom (2025-2-60-330) </a:t>
            </a:r>
          </a:p>
          <a:p>
            <a:pPr marL="521894" lvl="1" indent="-260947" algn="l">
              <a:lnSpc>
                <a:spcPts val="3935"/>
              </a:lnSpc>
              <a:buFont typeface="Arial"/>
              <a:buChar char="•"/>
            </a:pPr>
            <a:r>
              <a:rPr lang="en-US" sz="2417" spc="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Mahin Mahjabin (2025-2-60-385) </a:t>
            </a:r>
          </a:p>
          <a:p>
            <a:pPr marL="521894" lvl="1" indent="-260947" algn="l">
              <a:lnSpc>
                <a:spcPts val="3936"/>
              </a:lnSpc>
              <a:buFont typeface="Arial"/>
              <a:buChar char="•"/>
            </a:pPr>
            <a:r>
              <a:rPr lang="en-US" sz="2417" spc="6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Lakibul Hasan (2025-2-60-294)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2238" y="8790392"/>
            <a:ext cx="10437762" cy="467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6"/>
              </a:lnSpc>
            </a:pPr>
            <a:r>
              <a:rPr lang="en-US" sz="2417" spc="6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Department of Computer Science &amp; Engineering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6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0287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6" y="1101030"/>
            <a:ext cx="13409563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 of the Mini Project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92237" y="2773090"/>
            <a:ext cx="181681" cy="181681"/>
            <a:chOff x="0" y="0"/>
            <a:chExt cx="188913" cy="18891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537468" y="2458790"/>
            <a:ext cx="20360577" cy="53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2805" spc="7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randomly generate a directed graph using C programming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92237" y="4081874"/>
            <a:ext cx="181681" cy="181681"/>
            <a:chOff x="0" y="0"/>
            <a:chExt cx="188913" cy="18891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537468" y="3767573"/>
            <a:ext cx="20360577" cy="53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2805" spc="7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represent the graph using an adjacency matrix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92237" y="5390657"/>
            <a:ext cx="181681" cy="181681"/>
            <a:chOff x="0" y="0"/>
            <a:chExt cx="188913" cy="18891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537468" y="5076357"/>
            <a:ext cx="20360577" cy="53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2805" spc="7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compute the in-degree and out-degree of all vertices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2237" y="6699442"/>
            <a:ext cx="181681" cy="181681"/>
            <a:chOff x="0" y="0"/>
            <a:chExt cx="188913" cy="18891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1537468" y="6385140"/>
            <a:ext cx="20360577" cy="53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2805" spc="7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verify that the sum of in-degrees equals the sum of out-degrees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2237" y="8008226"/>
            <a:ext cx="181681" cy="181681"/>
            <a:chOff x="0" y="0"/>
            <a:chExt cx="188913" cy="18891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8976" cy="188976"/>
            </a:xfrm>
            <a:custGeom>
              <a:avLst/>
              <a:gdLst/>
              <a:ahLst/>
              <a:cxnLst/>
              <a:rect l="l" t="t" r="r" b="b"/>
              <a:pathLst>
                <a:path w="188976" h="188976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cubicBezTo>
                    <a:pt x="146685" y="0"/>
                    <a:pt x="188976" y="42291"/>
                    <a:pt x="188976" y="94488"/>
                  </a:cubicBezTo>
                  <a:cubicBezTo>
                    <a:pt x="188976" y="146685"/>
                    <a:pt x="146685" y="188976"/>
                    <a:pt x="94488" y="188976"/>
                  </a:cubicBezTo>
                  <a:cubicBezTo>
                    <a:pt x="42291" y="188976"/>
                    <a:pt x="0" y="146685"/>
                    <a:pt x="0" y="94488"/>
                  </a:cubicBez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537468" y="7693924"/>
            <a:ext cx="20360577" cy="535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8"/>
              </a:lnSpc>
            </a:pPr>
            <a:r>
              <a:rPr lang="en-US" sz="2805" spc="7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analyze the computational time complexity of the program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5502" y="6227117"/>
            <a:ext cx="7702622" cy="4059883"/>
            <a:chOff x="0" y="0"/>
            <a:chExt cx="25913979" cy="136586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913978" cy="13658689"/>
            </a:xfrm>
            <a:custGeom>
              <a:avLst/>
              <a:gdLst/>
              <a:ahLst/>
              <a:cxnLst/>
              <a:rect l="l" t="t" r="r" b="b"/>
              <a:pathLst>
                <a:path w="25913978" h="13658689">
                  <a:moveTo>
                    <a:pt x="0" y="0"/>
                  </a:moveTo>
                  <a:lnTo>
                    <a:pt x="25913978" y="0"/>
                  </a:lnTo>
                  <a:lnTo>
                    <a:pt x="25913978" y="13658689"/>
                  </a:lnTo>
                  <a:lnTo>
                    <a:pt x="0" y="13658689"/>
                  </a:lnTo>
                  <a:close/>
                </a:path>
              </a:pathLst>
            </a:custGeom>
            <a:blipFill>
              <a:blip r:embed="rId3"/>
              <a:stretch>
                <a:fillRect t="-426" b="-426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92237" y="2748409"/>
            <a:ext cx="16000363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spc="-139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Directed Graph and Adjacency Matrix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92238" y="4343102"/>
            <a:ext cx="6703962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Directed Graph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2238" y="5012382"/>
            <a:ext cx="8685162" cy="3900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5160" lvl="1" indent="-152580" algn="l">
              <a:lnSpc>
                <a:spcPts val="3295"/>
              </a:lnSpc>
              <a:buFont typeface="Arial"/>
              <a:buChar char="•"/>
            </a:pPr>
            <a:r>
              <a:rPr lang="en-US" sz="2023" spc="50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directed graph consists of vertices and directed edges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5555605"/>
            <a:ext cx="780588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Each edge has a specific direction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53414" y="4343102"/>
            <a:ext cx="769158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Adjacency Matrix Representation: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53414" y="5002857"/>
            <a:ext cx="780588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2D matrix of size n × 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3414" y="5555605"/>
            <a:ext cx="7805886" cy="393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7222" lvl="1" indent="-153611" algn="l">
              <a:lnSpc>
                <a:spcPts val="3317"/>
              </a:lnSpc>
              <a:buFont typeface="Arial"/>
              <a:buChar char="•"/>
            </a:pPr>
            <a:r>
              <a:rPr lang="en-US" sz="2037" spc="5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matrix[i][j] = 1 if there is an edge from vertex i to vertex j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53414" y="6108352"/>
            <a:ext cx="780588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matrix[i][j] = 0 otherwise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7" y="1309539"/>
            <a:ext cx="7694563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spc="-139" dirty="0">
                <a:solidFill>
                  <a:srgbClr val="6D6D6D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7" y="2695872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program follows these steps: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3468440"/>
            <a:ext cx="271462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01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92238" y="3997970"/>
            <a:ext cx="8009930" cy="38100"/>
            <a:chOff x="0" y="0"/>
            <a:chExt cx="10679907" cy="50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992237" y="4196804"/>
            <a:ext cx="7213253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Take the number of vertices n as input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85685" y="3468440"/>
            <a:ext cx="350937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85685" y="3997970"/>
            <a:ext cx="8010079" cy="38100"/>
            <a:chOff x="0" y="0"/>
            <a:chExt cx="10680105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9285685" y="4196804"/>
            <a:ext cx="8060680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a random n × n adjacency matrix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2238" y="5069086"/>
            <a:ext cx="351979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03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5598616"/>
            <a:ext cx="8009930" cy="38100"/>
            <a:chOff x="0" y="0"/>
            <a:chExt cx="10679907" cy="50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92238" y="5797451"/>
            <a:ext cx="8009930" cy="85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in-degrees by summing each column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85685" y="5069086"/>
            <a:ext cx="362545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04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85685" y="5598616"/>
            <a:ext cx="8010079" cy="38100"/>
            <a:chOff x="0" y="0"/>
            <a:chExt cx="10680105" cy="50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9285685" y="5797451"/>
            <a:ext cx="7834775" cy="85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out-degrees by summing each row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38" y="7112645"/>
            <a:ext cx="364480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05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92238" y="7642175"/>
            <a:ext cx="8009930" cy="38100"/>
            <a:chOff x="0" y="0"/>
            <a:chExt cx="10679907" cy="50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679938" cy="50800"/>
            </a:xfrm>
            <a:custGeom>
              <a:avLst/>
              <a:gdLst/>
              <a:ahLst/>
              <a:cxnLst/>
              <a:rect l="l" t="t" r="r" b="b"/>
              <a:pathLst>
                <a:path w="10679938" h="50800">
                  <a:moveTo>
                    <a:pt x="0" y="0"/>
                  </a:moveTo>
                  <a:lnTo>
                    <a:pt x="10679938" y="0"/>
                  </a:lnTo>
                  <a:lnTo>
                    <a:pt x="1067993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7" name="TextBox 27"/>
          <p:cNvSpPr txBox="1"/>
          <p:nvPr/>
        </p:nvSpPr>
        <p:spPr>
          <a:xfrm>
            <a:off x="992238" y="7841010"/>
            <a:ext cx="8009930" cy="858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Measure execution time using the clock() function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5685" y="7112645"/>
            <a:ext cx="368945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06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285685" y="7642175"/>
            <a:ext cx="8010079" cy="38100"/>
            <a:chOff x="0" y="0"/>
            <a:chExt cx="10680105" cy="5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680065" cy="50800"/>
            </a:xfrm>
            <a:custGeom>
              <a:avLst/>
              <a:gdLst/>
              <a:ahLst/>
              <a:cxnLst/>
              <a:rect l="l" t="t" r="r" b="b"/>
              <a:pathLst>
                <a:path w="10680065" h="50800">
                  <a:moveTo>
                    <a:pt x="0" y="0"/>
                  </a:moveTo>
                  <a:lnTo>
                    <a:pt x="10680065" y="0"/>
                  </a:lnTo>
                  <a:lnTo>
                    <a:pt x="1068006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31" name="TextBox 31"/>
          <p:cNvSpPr txBox="1"/>
          <p:nvPr/>
        </p:nvSpPr>
        <p:spPr>
          <a:xfrm>
            <a:off x="9285685" y="7841010"/>
            <a:ext cx="7973764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Repeat the process for different values of 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4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8" y="2525911"/>
            <a:ext cx="17295762" cy="176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spc="-139" dirty="0">
                <a:solidFill>
                  <a:srgbClr val="6D6D6D"/>
                </a:solidFill>
                <a:latin typeface="Poppins Bold"/>
                <a:ea typeface="Poppins Bold"/>
                <a:cs typeface="Poppins Bold"/>
                <a:sym typeface="Poppins Bold"/>
              </a:rPr>
              <a:t>In-degree and Out-degree (Basic Property of </a:t>
            </a:r>
            <a:r>
              <a:rPr lang="en-US" sz="5562" b="1" spc="-139">
                <a:solidFill>
                  <a:srgbClr val="6D6D6D"/>
                </a:solidFill>
                <a:latin typeface="Poppins Bold"/>
                <a:ea typeface="Poppins Bold"/>
                <a:cs typeface="Poppins Bold"/>
                <a:sym typeface="Poppins Bold"/>
              </a:rPr>
              <a:t>Directed Graph)</a:t>
            </a:r>
            <a:endParaRPr lang="en-US" sz="5562" b="1" spc="-139" dirty="0">
              <a:solidFill>
                <a:srgbClr val="6D6D6D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11288" y="5495181"/>
            <a:ext cx="8048030" cy="2371725"/>
            <a:chOff x="0" y="0"/>
            <a:chExt cx="10730707" cy="3162300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10679938" cy="3111500"/>
            </a:xfrm>
            <a:custGeom>
              <a:avLst/>
              <a:gdLst/>
              <a:ahLst/>
              <a:cxnLst/>
              <a:rect l="l" t="t" r="r" b="b"/>
              <a:pathLst>
                <a:path w="10679938" h="3111500">
                  <a:moveTo>
                    <a:pt x="0" y="243840"/>
                  </a:moveTo>
                  <a:cubicBezTo>
                    <a:pt x="0" y="109220"/>
                    <a:pt x="110490" y="0"/>
                    <a:pt x="246634" y="0"/>
                  </a:cubicBezTo>
                  <a:lnTo>
                    <a:pt x="10433304" y="0"/>
                  </a:lnTo>
                  <a:cubicBezTo>
                    <a:pt x="10569575" y="0"/>
                    <a:pt x="10679938" y="109220"/>
                    <a:pt x="10679938" y="243840"/>
                  </a:cubicBezTo>
                  <a:lnTo>
                    <a:pt x="10679938" y="2867660"/>
                  </a:lnTo>
                  <a:cubicBezTo>
                    <a:pt x="10679938" y="3002280"/>
                    <a:pt x="10569448" y="3111500"/>
                    <a:pt x="10433304" y="3111500"/>
                  </a:cubicBezTo>
                  <a:lnTo>
                    <a:pt x="246634" y="3111500"/>
                  </a:lnTo>
                  <a:cubicBezTo>
                    <a:pt x="110490" y="3111500"/>
                    <a:pt x="0" y="3002280"/>
                    <a:pt x="0" y="2867660"/>
                  </a:cubicBezTo>
                  <a:close/>
                </a:path>
              </a:pathLst>
            </a:custGeom>
            <a:solidFill>
              <a:srgbClr val="F9F6F0"/>
            </a:solidFill>
            <a:ln w="12700">
              <a:solidFill>
                <a:srgbClr val="00000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0730738" cy="3162300"/>
            </a:xfrm>
            <a:custGeom>
              <a:avLst/>
              <a:gdLst/>
              <a:ahLst/>
              <a:cxnLst/>
              <a:rect l="l" t="t" r="r" b="b"/>
              <a:pathLst>
                <a:path w="10730738" h="3162300">
                  <a:moveTo>
                    <a:pt x="0" y="269240"/>
                  </a:moveTo>
                  <a:cubicBezTo>
                    <a:pt x="0" y="120269"/>
                    <a:pt x="122047" y="0"/>
                    <a:pt x="272034" y="0"/>
                  </a:cubicBezTo>
                  <a:lnTo>
                    <a:pt x="10458704" y="0"/>
                  </a:lnTo>
                  <a:lnTo>
                    <a:pt x="10458704" y="25400"/>
                  </a:lnTo>
                  <a:lnTo>
                    <a:pt x="10458704" y="0"/>
                  </a:lnTo>
                  <a:cubicBezTo>
                    <a:pt x="10608691" y="0"/>
                    <a:pt x="10730738" y="120269"/>
                    <a:pt x="10730738" y="269240"/>
                  </a:cubicBezTo>
                  <a:lnTo>
                    <a:pt x="10705338" y="269240"/>
                  </a:lnTo>
                  <a:lnTo>
                    <a:pt x="10730738" y="269240"/>
                  </a:lnTo>
                  <a:lnTo>
                    <a:pt x="10730738" y="2893060"/>
                  </a:lnTo>
                  <a:lnTo>
                    <a:pt x="10705338" y="2893060"/>
                  </a:lnTo>
                  <a:lnTo>
                    <a:pt x="10730738" y="2893060"/>
                  </a:lnTo>
                  <a:cubicBezTo>
                    <a:pt x="10730738" y="3042031"/>
                    <a:pt x="10608691" y="3162300"/>
                    <a:pt x="10458704" y="3162300"/>
                  </a:cubicBezTo>
                  <a:lnTo>
                    <a:pt x="10458704" y="3136900"/>
                  </a:lnTo>
                  <a:lnTo>
                    <a:pt x="10458704" y="3162300"/>
                  </a:lnTo>
                  <a:lnTo>
                    <a:pt x="272034" y="3162300"/>
                  </a:lnTo>
                  <a:lnTo>
                    <a:pt x="272034" y="3136900"/>
                  </a:lnTo>
                  <a:lnTo>
                    <a:pt x="272034" y="3162300"/>
                  </a:lnTo>
                  <a:cubicBezTo>
                    <a:pt x="122047" y="3162300"/>
                    <a:pt x="0" y="3042031"/>
                    <a:pt x="0" y="289306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93060"/>
                  </a:lnTo>
                  <a:lnTo>
                    <a:pt x="25400" y="2893060"/>
                  </a:lnTo>
                  <a:lnTo>
                    <a:pt x="50800" y="2893060"/>
                  </a:lnTo>
                  <a:cubicBezTo>
                    <a:pt x="50800" y="3013456"/>
                    <a:pt x="149606" y="3111500"/>
                    <a:pt x="272034" y="3111500"/>
                  </a:cubicBezTo>
                  <a:lnTo>
                    <a:pt x="10458704" y="3111500"/>
                  </a:lnTo>
                  <a:cubicBezTo>
                    <a:pt x="10581132" y="3111500"/>
                    <a:pt x="10679938" y="3013456"/>
                    <a:pt x="10679938" y="2893060"/>
                  </a:cubicBezTo>
                  <a:lnTo>
                    <a:pt x="10679938" y="269240"/>
                  </a:lnTo>
                  <a:cubicBezTo>
                    <a:pt x="10679938" y="148844"/>
                    <a:pt x="10581132" y="50800"/>
                    <a:pt x="10458704" y="50800"/>
                  </a:cubicBezTo>
                  <a:lnTo>
                    <a:pt x="272034" y="50800"/>
                  </a:lnTo>
                  <a:lnTo>
                    <a:pt x="272034" y="25400"/>
                  </a:lnTo>
                  <a:lnTo>
                    <a:pt x="272034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4CEC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992238" y="5514231"/>
            <a:ext cx="152400" cy="2333625"/>
            <a:chOff x="0" y="0"/>
            <a:chExt cx="203200" cy="3111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3200" cy="3111500"/>
            </a:xfrm>
            <a:custGeom>
              <a:avLst/>
              <a:gdLst/>
              <a:ahLst/>
              <a:cxnLst/>
              <a:rect l="l" t="t" r="r" b="b"/>
              <a:pathLst>
                <a:path w="203200" h="31115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3054731"/>
                  </a:lnTo>
                  <a:cubicBezTo>
                    <a:pt x="203200" y="3086100"/>
                    <a:pt x="177800" y="3111500"/>
                    <a:pt x="146431" y="3111500"/>
                  </a:cubicBezTo>
                  <a:lnTo>
                    <a:pt x="56769" y="3111500"/>
                  </a:lnTo>
                  <a:cubicBezTo>
                    <a:pt x="25400" y="3111500"/>
                    <a:pt x="0" y="3086100"/>
                    <a:pt x="0" y="3054731"/>
                  </a:cubicBez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466255" y="5816799"/>
            <a:ext cx="5666214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Out-degree of a vertex: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66255" y="6363146"/>
            <a:ext cx="7252395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Number of outgoing edges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66255" y="6986885"/>
            <a:ext cx="7252395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Calculated by summing the elements of a row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04735" y="5495181"/>
            <a:ext cx="8048179" cy="2371725"/>
            <a:chOff x="0" y="0"/>
            <a:chExt cx="10730905" cy="3162300"/>
          </a:xfrm>
        </p:grpSpPr>
        <p:sp>
          <p:nvSpPr>
            <p:cNvPr id="16" name="Freeform 16"/>
            <p:cNvSpPr/>
            <p:nvPr/>
          </p:nvSpPr>
          <p:spPr>
            <a:xfrm>
              <a:off x="25400" y="25400"/>
              <a:ext cx="10680065" cy="3111500"/>
            </a:xfrm>
            <a:custGeom>
              <a:avLst/>
              <a:gdLst/>
              <a:ahLst/>
              <a:cxnLst/>
              <a:rect l="l" t="t" r="r" b="b"/>
              <a:pathLst>
                <a:path w="10680065" h="3111500">
                  <a:moveTo>
                    <a:pt x="0" y="243840"/>
                  </a:moveTo>
                  <a:cubicBezTo>
                    <a:pt x="0" y="109220"/>
                    <a:pt x="110490" y="0"/>
                    <a:pt x="246634" y="0"/>
                  </a:cubicBezTo>
                  <a:lnTo>
                    <a:pt x="10433431" y="0"/>
                  </a:lnTo>
                  <a:cubicBezTo>
                    <a:pt x="10569702" y="0"/>
                    <a:pt x="10680065" y="109220"/>
                    <a:pt x="10680065" y="243840"/>
                  </a:cubicBezTo>
                  <a:lnTo>
                    <a:pt x="10680065" y="2867660"/>
                  </a:lnTo>
                  <a:cubicBezTo>
                    <a:pt x="10680065" y="3002280"/>
                    <a:pt x="10569575" y="3111500"/>
                    <a:pt x="10433431" y="3111500"/>
                  </a:cubicBezTo>
                  <a:lnTo>
                    <a:pt x="246634" y="3111500"/>
                  </a:lnTo>
                  <a:cubicBezTo>
                    <a:pt x="110490" y="3111500"/>
                    <a:pt x="0" y="3002280"/>
                    <a:pt x="0" y="2867660"/>
                  </a:cubicBezTo>
                  <a:close/>
                </a:path>
              </a:pathLst>
            </a:custGeom>
            <a:solidFill>
              <a:srgbClr val="F9F6F0"/>
            </a:solidFill>
            <a:ln w="12700">
              <a:solidFill>
                <a:srgbClr val="000000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0730865" cy="3162300"/>
            </a:xfrm>
            <a:custGeom>
              <a:avLst/>
              <a:gdLst/>
              <a:ahLst/>
              <a:cxnLst/>
              <a:rect l="l" t="t" r="r" b="b"/>
              <a:pathLst>
                <a:path w="10730865" h="3162300">
                  <a:moveTo>
                    <a:pt x="0" y="269240"/>
                  </a:moveTo>
                  <a:cubicBezTo>
                    <a:pt x="0" y="120269"/>
                    <a:pt x="122047" y="0"/>
                    <a:pt x="272034" y="0"/>
                  </a:cubicBezTo>
                  <a:lnTo>
                    <a:pt x="10458831" y="0"/>
                  </a:lnTo>
                  <a:lnTo>
                    <a:pt x="10458831" y="25400"/>
                  </a:lnTo>
                  <a:lnTo>
                    <a:pt x="10458831" y="0"/>
                  </a:lnTo>
                  <a:cubicBezTo>
                    <a:pt x="10608818" y="0"/>
                    <a:pt x="10730865" y="120269"/>
                    <a:pt x="10730865" y="269240"/>
                  </a:cubicBezTo>
                  <a:lnTo>
                    <a:pt x="10705465" y="269240"/>
                  </a:lnTo>
                  <a:lnTo>
                    <a:pt x="10730865" y="269240"/>
                  </a:lnTo>
                  <a:lnTo>
                    <a:pt x="10730865" y="2893060"/>
                  </a:lnTo>
                  <a:lnTo>
                    <a:pt x="10705465" y="2893060"/>
                  </a:lnTo>
                  <a:lnTo>
                    <a:pt x="10730865" y="2893060"/>
                  </a:lnTo>
                  <a:cubicBezTo>
                    <a:pt x="10730865" y="3042031"/>
                    <a:pt x="10608818" y="3162300"/>
                    <a:pt x="10458831" y="3162300"/>
                  </a:cubicBezTo>
                  <a:lnTo>
                    <a:pt x="10458831" y="3136900"/>
                  </a:lnTo>
                  <a:lnTo>
                    <a:pt x="10458831" y="3162300"/>
                  </a:lnTo>
                  <a:lnTo>
                    <a:pt x="272034" y="3162300"/>
                  </a:lnTo>
                  <a:lnTo>
                    <a:pt x="272034" y="3136900"/>
                  </a:lnTo>
                  <a:lnTo>
                    <a:pt x="272034" y="3162300"/>
                  </a:lnTo>
                  <a:cubicBezTo>
                    <a:pt x="122047" y="3162300"/>
                    <a:pt x="0" y="3042031"/>
                    <a:pt x="0" y="2893060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893060"/>
                  </a:lnTo>
                  <a:lnTo>
                    <a:pt x="25400" y="2893060"/>
                  </a:lnTo>
                  <a:lnTo>
                    <a:pt x="50800" y="2893060"/>
                  </a:lnTo>
                  <a:cubicBezTo>
                    <a:pt x="50800" y="3013456"/>
                    <a:pt x="149606" y="3111500"/>
                    <a:pt x="272034" y="3111500"/>
                  </a:cubicBezTo>
                  <a:lnTo>
                    <a:pt x="10458831" y="3111500"/>
                  </a:lnTo>
                  <a:cubicBezTo>
                    <a:pt x="10581260" y="3111500"/>
                    <a:pt x="10680065" y="3013456"/>
                    <a:pt x="10680065" y="2893060"/>
                  </a:cubicBezTo>
                  <a:lnTo>
                    <a:pt x="10680065" y="269240"/>
                  </a:lnTo>
                  <a:cubicBezTo>
                    <a:pt x="10680065" y="148844"/>
                    <a:pt x="10581260" y="50800"/>
                    <a:pt x="10458831" y="50800"/>
                  </a:cubicBezTo>
                  <a:lnTo>
                    <a:pt x="272034" y="50800"/>
                  </a:lnTo>
                  <a:lnTo>
                    <a:pt x="272034" y="25400"/>
                  </a:lnTo>
                  <a:lnTo>
                    <a:pt x="272034" y="50800"/>
                  </a:lnTo>
                  <a:cubicBezTo>
                    <a:pt x="149606" y="50800"/>
                    <a:pt x="50800" y="148844"/>
                    <a:pt x="50800" y="269240"/>
                  </a:cubicBezTo>
                  <a:close/>
                </a:path>
              </a:pathLst>
            </a:custGeom>
            <a:solidFill>
              <a:srgbClr val="D4CEC3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285684" y="5514231"/>
            <a:ext cx="152400" cy="2333625"/>
            <a:chOff x="0" y="0"/>
            <a:chExt cx="203200" cy="3111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3200" cy="3111500"/>
            </a:xfrm>
            <a:custGeom>
              <a:avLst/>
              <a:gdLst/>
              <a:ahLst/>
              <a:cxnLst/>
              <a:rect l="l" t="t" r="r" b="b"/>
              <a:pathLst>
                <a:path w="203200" h="3111500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46558" y="0"/>
                  </a:lnTo>
                  <a:cubicBezTo>
                    <a:pt x="177800" y="0"/>
                    <a:pt x="203200" y="25400"/>
                    <a:pt x="203200" y="56769"/>
                  </a:cubicBezTo>
                  <a:lnTo>
                    <a:pt x="203200" y="3054731"/>
                  </a:lnTo>
                  <a:cubicBezTo>
                    <a:pt x="203200" y="3086100"/>
                    <a:pt x="177800" y="3111500"/>
                    <a:pt x="146431" y="3111500"/>
                  </a:cubicBezTo>
                  <a:lnTo>
                    <a:pt x="56769" y="3111500"/>
                  </a:lnTo>
                  <a:cubicBezTo>
                    <a:pt x="25400" y="3111500"/>
                    <a:pt x="0" y="3086100"/>
                    <a:pt x="0" y="3054731"/>
                  </a:cubicBez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759703" y="5816799"/>
            <a:ext cx="494689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In-degree of a vertex: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759703" y="6363146"/>
            <a:ext cx="7252544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Number of incoming edges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759702" y="6986885"/>
            <a:ext cx="7574131" cy="424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 dirty="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Calculated by summing the elements of a column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27848" y="8461045"/>
            <a:ext cx="16020472" cy="417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07" spc="5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Property: Sum of in-degrees = Sum of out-degrees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30338" y="8166795"/>
            <a:ext cx="38100" cy="1091505"/>
            <a:chOff x="0" y="0"/>
            <a:chExt cx="50800" cy="145534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1455293"/>
            </a:xfrm>
            <a:custGeom>
              <a:avLst/>
              <a:gdLst/>
              <a:ahLst/>
              <a:cxnLst/>
              <a:rect l="l" t="t" r="r" b="b"/>
              <a:pathLst>
                <a:path w="50800" h="1455293">
                  <a:moveTo>
                    <a:pt x="0" y="0"/>
                  </a:moveTo>
                  <a:lnTo>
                    <a:pt x="50800" y="0"/>
                  </a:lnTo>
                  <a:lnTo>
                    <a:pt x="50800" y="1455293"/>
                  </a:lnTo>
                  <a:lnTo>
                    <a:pt x="0" y="1455293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992236" y="1534566"/>
            <a:ext cx="9523363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 spc="-139" dirty="0">
                <a:solidFill>
                  <a:srgbClr val="6D6D6D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Setup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7" y="2920901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242424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executed the program for different input sizes: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779192"/>
            <a:ext cx="5245447" cy="1009948"/>
            <a:chOff x="0" y="0"/>
            <a:chExt cx="6993930" cy="13465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93890" cy="1346454"/>
            </a:xfrm>
            <a:custGeom>
              <a:avLst/>
              <a:gdLst/>
              <a:ahLst/>
              <a:cxnLst/>
              <a:rect l="l" t="t" r="r" b="b"/>
              <a:pathLst>
                <a:path w="6993890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1289812"/>
                  </a:lnTo>
                  <a:cubicBezTo>
                    <a:pt x="6993890" y="1321181"/>
                    <a:pt x="6968490" y="1346454"/>
                    <a:pt x="6937248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275755" y="4043660"/>
            <a:ext cx="1556445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n = 1000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21202" y="3779192"/>
            <a:ext cx="5245447" cy="1009948"/>
            <a:chOff x="0" y="0"/>
            <a:chExt cx="6993930" cy="13465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93890" cy="1346454"/>
            </a:xfrm>
            <a:custGeom>
              <a:avLst/>
              <a:gdLst/>
              <a:ahLst/>
              <a:cxnLst/>
              <a:rect l="l" t="t" r="r" b="b"/>
              <a:pathLst>
                <a:path w="6993890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1289812"/>
                  </a:lnTo>
                  <a:cubicBezTo>
                    <a:pt x="6993890" y="1321181"/>
                    <a:pt x="6968490" y="1346454"/>
                    <a:pt x="6937248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804720" y="4043660"/>
            <a:ext cx="1608832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n = 2000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2050166" y="3779192"/>
            <a:ext cx="5245447" cy="1009948"/>
            <a:chOff x="0" y="0"/>
            <a:chExt cx="6993930" cy="134659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993890" cy="1346454"/>
            </a:xfrm>
            <a:custGeom>
              <a:avLst/>
              <a:gdLst/>
              <a:ahLst/>
              <a:cxnLst/>
              <a:rect l="l" t="t" r="r" b="b"/>
              <a:pathLst>
                <a:path w="6993890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1289812"/>
                  </a:lnTo>
                  <a:cubicBezTo>
                    <a:pt x="6993890" y="1321181"/>
                    <a:pt x="6968490" y="1346454"/>
                    <a:pt x="6937248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2333685" y="4043660"/>
            <a:ext cx="1620589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n = 3000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92238" y="5072658"/>
            <a:ext cx="8009930" cy="1009947"/>
            <a:chOff x="0" y="0"/>
            <a:chExt cx="10679907" cy="134659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79811" cy="1346454"/>
            </a:xfrm>
            <a:custGeom>
              <a:avLst/>
              <a:gdLst/>
              <a:ahLst/>
              <a:cxnLst/>
              <a:rect l="l" t="t" r="r" b="b"/>
              <a:pathLst>
                <a:path w="10679811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1289812"/>
                  </a:lnTo>
                  <a:cubicBezTo>
                    <a:pt x="10679811" y="1321181"/>
                    <a:pt x="10654411" y="1346454"/>
                    <a:pt x="10623169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1275755" y="5337125"/>
            <a:ext cx="1645741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n = 4000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285685" y="5072658"/>
            <a:ext cx="8009930" cy="1009947"/>
            <a:chOff x="0" y="0"/>
            <a:chExt cx="10679907" cy="134659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679811" cy="1346454"/>
            </a:xfrm>
            <a:custGeom>
              <a:avLst/>
              <a:gdLst/>
              <a:ahLst/>
              <a:cxnLst/>
              <a:rect l="l" t="t" r="r" b="b"/>
              <a:pathLst>
                <a:path w="10679811" h="1346454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1289812"/>
                  </a:lnTo>
                  <a:cubicBezTo>
                    <a:pt x="10679811" y="1321181"/>
                    <a:pt x="10654411" y="1346454"/>
                    <a:pt x="10623169" y="1346454"/>
                  </a:cubicBezTo>
                  <a:lnTo>
                    <a:pt x="56642" y="1346454"/>
                  </a:lnTo>
                  <a:cubicBezTo>
                    <a:pt x="25273" y="1346454"/>
                    <a:pt x="0" y="1321054"/>
                    <a:pt x="0" y="1289812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22" name="TextBox 22"/>
          <p:cNvSpPr txBox="1"/>
          <p:nvPr/>
        </p:nvSpPr>
        <p:spPr>
          <a:xfrm>
            <a:off x="9569202" y="5337125"/>
            <a:ext cx="1636365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EFEFEF"/>
                </a:solidFill>
                <a:latin typeface="Poppins Bold"/>
                <a:ea typeface="Poppins Bold"/>
                <a:cs typeface="Poppins Bold"/>
                <a:sym typeface="Poppins Bold"/>
              </a:rPr>
              <a:t>n = 5000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92237" y="6315819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spc="54">
                <a:solidFill>
                  <a:srgbClr val="242424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each value of n: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92237" y="7088386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242424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measured time execution.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92237" y="7641134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242424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measured Printing time.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92237" y="8193881"/>
            <a:ext cx="16303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242424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recorded the results.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39261" y="159703"/>
            <a:ext cx="5871939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rgbClr val="0D1117"/>
                </a:solidFill>
                <a:latin typeface="Poppins Bold"/>
                <a:ea typeface="Poppins Bold"/>
                <a:cs typeface="Poppins Bold"/>
                <a:sym typeface="Poppins Bold"/>
              </a:rPr>
              <a:t>Code</a:t>
            </a:r>
          </a:p>
        </p:txBody>
      </p:sp>
      <p:sp>
        <p:nvSpPr>
          <p:cNvPr id="3" name="Freeform 3"/>
          <p:cNvSpPr/>
          <p:nvPr/>
        </p:nvSpPr>
        <p:spPr>
          <a:xfrm>
            <a:off x="769560" y="2192672"/>
            <a:ext cx="7659162" cy="7650391"/>
          </a:xfrm>
          <a:custGeom>
            <a:avLst/>
            <a:gdLst/>
            <a:ahLst/>
            <a:cxnLst/>
            <a:rect l="l" t="t" r="r" b="b"/>
            <a:pathLst>
              <a:path w="7659162" h="7650391">
                <a:moveTo>
                  <a:pt x="0" y="0"/>
                </a:moveTo>
                <a:lnTo>
                  <a:pt x="7659162" y="0"/>
                </a:lnTo>
                <a:lnTo>
                  <a:pt x="7659162" y="7650391"/>
                </a:lnTo>
                <a:lnTo>
                  <a:pt x="0" y="76503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10369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144000" y="2192672"/>
            <a:ext cx="8520626" cy="6944112"/>
          </a:xfrm>
          <a:custGeom>
            <a:avLst/>
            <a:gdLst/>
            <a:ahLst/>
            <a:cxnLst/>
            <a:rect l="l" t="t" r="r" b="b"/>
            <a:pathLst>
              <a:path w="8520626" h="6944112">
                <a:moveTo>
                  <a:pt x="0" y="0"/>
                </a:moveTo>
                <a:lnTo>
                  <a:pt x="8520626" y="0"/>
                </a:lnTo>
                <a:lnTo>
                  <a:pt x="8520626" y="6944112"/>
                </a:lnTo>
                <a:lnTo>
                  <a:pt x="0" y="69441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3602" b="-26047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4777" y="1267002"/>
            <a:ext cx="7430670" cy="3049782"/>
          </a:xfrm>
          <a:custGeom>
            <a:avLst/>
            <a:gdLst/>
            <a:ahLst/>
            <a:cxnLst/>
            <a:rect l="l" t="t" r="r" b="b"/>
            <a:pathLst>
              <a:path w="7430670" h="3049782">
                <a:moveTo>
                  <a:pt x="0" y="0"/>
                </a:moveTo>
                <a:lnTo>
                  <a:pt x="7430670" y="0"/>
                </a:lnTo>
                <a:lnTo>
                  <a:pt x="7430670" y="3049782"/>
                </a:lnTo>
                <a:lnTo>
                  <a:pt x="0" y="3049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07882" b="-2219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4777" y="4417462"/>
            <a:ext cx="7430670" cy="2891274"/>
          </a:xfrm>
          <a:custGeom>
            <a:avLst/>
            <a:gdLst/>
            <a:ahLst/>
            <a:cxnLst/>
            <a:rect l="l" t="t" r="r" b="b"/>
            <a:pathLst>
              <a:path w="7430670" h="2891274">
                <a:moveTo>
                  <a:pt x="0" y="0"/>
                </a:moveTo>
                <a:lnTo>
                  <a:pt x="7430670" y="0"/>
                </a:lnTo>
                <a:lnTo>
                  <a:pt x="7430670" y="2891273"/>
                </a:lnTo>
                <a:lnTo>
                  <a:pt x="0" y="28912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76" r="-107752" b="-25634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465501" y="4436174"/>
            <a:ext cx="7587768" cy="2872561"/>
          </a:xfrm>
          <a:custGeom>
            <a:avLst/>
            <a:gdLst/>
            <a:ahLst/>
            <a:cxnLst/>
            <a:rect l="l" t="t" r="r" b="b"/>
            <a:pathLst>
              <a:path w="7587768" h="2872561">
                <a:moveTo>
                  <a:pt x="0" y="0"/>
                </a:moveTo>
                <a:lnTo>
                  <a:pt x="7587768" y="0"/>
                </a:lnTo>
                <a:lnTo>
                  <a:pt x="7587768" y="2872561"/>
                </a:lnTo>
                <a:lnTo>
                  <a:pt x="0" y="28725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48" r="-104359" b="-2705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465501" y="1267002"/>
            <a:ext cx="7587768" cy="3049782"/>
          </a:xfrm>
          <a:custGeom>
            <a:avLst/>
            <a:gdLst/>
            <a:ahLst/>
            <a:cxnLst/>
            <a:rect l="l" t="t" r="r" b="b"/>
            <a:pathLst>
              <a:path w="7587768" h="3049782">
                <a:moveTo>
                  <a:pt x="0" y="0"/>
                </a:moveTo>
                <a:lnTo>
                  <a:pt x="7587768" y="0"/>
                </a:lnTo>
                <a:lnTo>
                  <a:pt x="7587768" y="3049782"/>
                </a:lnTo>
                <a:lnTo>
                  <a:pt x="0" y="30497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14187" b="-61866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632303" y="7308735"/>
            <a:ext cx="7023394" cy="2793381"/>
          </a:xfrm>
          <a:custGeom>
            <a:avLst/>
            <a:gdLst/>
            <a:ahLst/>
            <a:cxnLst/>
            <a:rect l="l" t="t" r="r" b="b"/>
            <a:pathLst>
              <a:path w="7023394" h="2793381">
                <a:moveTo>
                  <a:pt x="0" y="0"/>
                </a:moveTo>
                <a:lnTo>
                  <a:pt x="7023394" y="0"/>
                </a:lnTo>
                <a:lnTo>
                  <a:pt x="7023394" y="2793381"/>
                </a:lnTo>
                <a:lnTo>
                  <a:pt x="0" y="279338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784" r="-113773" b="-2955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952916" y="324275"/>
            <a:ext cx="2607755" cy="942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36"/>
              </a:lnSpc>
            </a:pPr>
            <a:r>
              <a:rPr lang="en-US" sz="5525">
                <a:solidFill>
                  <a:srgbClr val="0D1117"/>
                </a:solidFill>
                <a:latin typeface="Poppins Bold"/>
                <a:ea typeface="Poppins Bold"/>
                <a:cs typeface="Poppins Bold"/>
                <a:sym typeface="Poppins Bold"/>
              </a:rPr>
              <a:t>Output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8234158" y="2299458"/>
            <a:ext cx="9922389" cy="5581344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t="-4888" b="-488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992238" y="2307282"/>
            <a:ext cx="9445526" cy="1738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Time vs Number of Vertices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2238" y="4437757"/>
            <a:ext cx="9445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Plotted line graph using Google Sheets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2238" y="4990505"/>
            <a:ext cx="9445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X-axis represents number of vertices (n)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5543252"/>
            <a:ext cx="9445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Y-axis represents execution time (seconds)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6096000"/>
            <a:ext cx="9445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A polynomial trendline was added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6648747"/>
            <a:ext cx="9445526" cy="414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3" lvl="1" indent="-164951" algn="l">
              <a:lnSpc>
                <a:spcPts val="3562"/>
              </a:lnSpc>
              <a:buFont typeface="Arial"/>
              <a:buChar char="•"/>
            </a:pPr>
            <a:r>
              <a:rPr lang="en-US" sz="2187" spc="54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Trendline equation and R² value were displayed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6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28700" y="1009650"/>
            <a:ext cx="1451610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600" spc="-140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Theoretical </a:t>
            </a:r>
            <a:r>
              <a:rPr lang="en-US" sz="5600" b="1" spc="-140" dirty="0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Time Complexity: O(n²)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335967"/>
            <a:ext cx="16230600" cy="6319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1"/>
              </a:lnSpc>
              <a:spcBef>
                <a:spcPct val="0"/>
              </a:spcBef>
            </a:pPr>
            <a:r>
              <a:rPr lang="en-US" sz="4454" spc="11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 calculate all in-degrees and out-degrees, we scan the entire n X n adjacency matrix once. Therefore, the total number of operations is proportional to n^2, making the complexity O(n^2).</a:t>
            </a:r>
          </a:p>
          <a:p>
            <a:pPr algn="l">
              <a:lnSpc>
                <a:spcPts val="7251"/>
              </a:lnSpc>
              <a:spcBef>
                <a:spcPct val="0"/>
              </a:spcBef>
            </a:pPr>
            <a:endParaRPr lang="en-US" sz="4454" spc="111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7251"/>
              </a:lnSpc>
              <a:spcBef>
                <a:spcPct val="0"/>
              </a:spcBef>
            </a:pPr>
            <a:r>
              <a:rPr lang="en-US" sz="4454" spc="11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 operations = O(n)× O(n) = O(n^2)</a:t>
            </a:r>
          </a:p>
          <a:p>
            <a:pPr algn="l">
              <a:lnSpc>
                <a:spcPts val="7254"/>
              </a:lnSpc>
              <a:spcBef>
                <a:spcPct val="0"/>
              </a:spcBef>
            </a:pPr>
            <a:r>
              <a:rPr lang="en-US" sz="4454" spc="111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Total time complexity = O(n^2) + O(n^2) = O(n^2)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D6D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28700" y="8626979"/>
            <a:ext cx="24415550" cy="631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35"/>
              </a:lnSpc>
            </a:pPr>
            <a:r>
              <a:rPr lang="en-US" sz="3275" spc="81">
                <a:solidFill>
                  <a:srgbClr val="000000"/>
                </a:solidFill>
                <a:latin typeface="Poppins Light Bold"/>
                <a:ea typeface="Poppins Light Bold"/>
                <a:cs typeface="Poppins Light Bold"/>
                <a:sym typeface="Poppins Light Bold"/>
              </a:rPr>
              <a:t>Experimental and theoretical results match.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85825"/>
            <a:ext cx="16230600" cy="7572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69"/>
              </a:lnSpc>
              <a:spcBef>
                <a:spcPct val="0"/>
              </a:spcBef>
            </a:pPr>
            <a:r>
              <a:rPr lang="en-US" sz="3605" spc="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Experimental time complexity ( from graph ) :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equation of the trendline was of the form :</a:t>
            </a:r>
          </a:p>
          <a:p>
            <a:pPr algn="ctr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y = 0.00000002n2 + 0.00002n − 0.02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highest degree term in the equation is n^2 which confirms that the time complexity grows quadratically with n.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trendline shows a quadratic relationship between the computational time and n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experimental results also suggest that the complexity of the program is O(n^ 2).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endParaRPr lang="en-US" sz="2727" spc="68">
              <a:solidFill>
                <a:srgbClr val="000000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algn="l">
              <a:lnSpc>
                <a:spcPts val="5869"/>
              </a:lnSpc>
              <a:spcBef>
                <a:spcPct val="0"/>
              </a:spcBef>
            </a:pPr>
            <a:r>
              <a:rPr lang="en-US" sz="3605" spc="9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Comparison Theoretical vs Experimental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analyzing the code, we determined that the time complexity is O(n^ 2).</a:t>
            </a:r>
          </a:p>
          <a:p>
            <a:pPr algn="l">
              <a:lnSpc>
                <a:spcPts val="4440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From the excel graph and the polynomial trendline, confirming that the experimental time complexity also O(n^ 2)</a:t>
            </a:r>
          </a:p>
          <a:p>
            <a:pPr algn="l">
              <a:lnSpc>
                <a:spcPts val="4442"/>
              </a:lnSpc>
              <a:spcBef>
                <a:spcPct val="0"/>
              </a:spcBef>
            </a:pPr>
            <a:r>
              <a:rPr lang="en-US" sz="2727" spc="68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Both the theoretical and experimental time complexity of the program are O(n^ 2).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649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28700" y="1145743"/>
            <a:ext cx="6225934" cy="1283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7"/>
              </a:lnSpc>
            </a:pPr>
            <a:r>
              <a:rPr lang="en-US" sz="8216" b="1">
                <a:solidFill>
                  <a:srgbClr val="242424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85661" y="3350972"/>
            <a:ext cx="628068" cy="628068"/>
          </a:xfrm>
          <a:custGeom>
            <a:avLst/>
            <a:gdLst/>
            <a:ahLst/>
            <a:cxnLst/>
            <a:rect l="l" t="t" r="r" b="b"/>
            <a:pathLst>
              <a:path w="628068" h="628068">
                <a:moveTo>
                  <a:pt x="0" y="0"/>
                </a:moveTo>
                <a:lnTo>
                  <a:pt x="628068" y="0"/>
                </a:lnTo>
                <a:lnTo>
                  <a:pt x="628068" y="628068"/>
                </a:lnTo>
                <a:lnTo>
                  <a:pt x="0" y="62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389696" y="3196738"/>
            <a:ext cx="6865643" cy="128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2"/>
              </a:lnSpc>
            </a:pPr>
            <a:r>
              <a:rPr lang="en-US" sz="3231" spc="8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Directed graph generation was successfully implemented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9978553" y="3350972"/>
            <a:ext cx="628068" cy="628068"/>
          </a:xfrm>
          <a:custGeom>
            <a:avLst/>
            <a:gdLst/>
            <a:ahLst/>
            <a:cxnLst/>
            <a:rect l="l" t="t" r="r" b="b"/>
            <a:pathLst>
              <a:path w="628068" h="628068">
                <a:moveTo>
                  <a:pt x="0" y="0"/>
                </a:moveTo>
                <a:lnTo>
                  <a:pt x="628068" y="0"/>
                </a:lnTo>
                <a:lnTo>
                  <a:pt x="628068" y="628068"/>
                </a:lnTo>
                <a:lnTo>
                  <a:pt x="0" y="62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036949" y="3196738"/>
            <a:ext cx="6178275" cy="120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3"/>
              </a:lnSpc>
            </a:pPr>
            <a:r>
              <a:rPr lang="en-US" sz="3029" spc="75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In-degree and out-degree were correctly computed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85661" y="5528653"/>
            <a:ext cx="628068" cy="628068"/>
          </a:xfrm>
          <a:custGeom>
            <a:avLst/>
            <a:gdLst/>
            <a:ahLst/>
            <a:cxnLst/>
            <a:rect l="l" t="t" r="r" b="b"/>
            <a:pathLst>
              <a:path w="628068" h="628068">
                <a:moveTo>
                  <a:pt x="0" y="0"/>
                </a:moveTo>
                <a:lnTo>
                  <a:pt x="628068" y="0"/>
                </a:lnTo>
                <a:lnTo>
                  <a:pt x="628068" y="628068"/>
                </a:lnTo>
                <a:lnTo>
                  <a:pt x="0" y="62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389696" y="5374419"/>
            <a:ext cx="6865643" cy="128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2"/>
              </a:lnSpc>
            </a:pPr>
            <a:r>
              <a:rPr lang="en-US" sz="3231" spc="8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property sum(in-degree) = sum(out-degree) was verified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78553" y="5528653"/>
            <a:ext cx="628068" cy="628068"/>
          </a:xfrm>
          <a:custGeom>
            <a:avLst/>
            <a:gdLst/>
            <a:ahLst/>
            <a:cxnLst/>
            <a:rect l="l" t="t" r="r" b="b"/>
            <a:pathLst>
              <a:path w="628068" h="628068">
                <a:moveTo>
                  <a:pt x="0" y="0"/>
                </a:moveTo>
                <a:lnTo>
                  <a:pt x="628068" y="0"/>
                </a:lnTo>
                <a:lnTo>
                  <a:pt x="628068" y="628068"/>
                </a:lnTo>
                <a:lnTo>
                  <a:pt x="0" y="6280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1036949" y="5374419"/>
            <a:ext cx="5949079" cy="128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2"/>
              </a:lnSpc>
            </a:pPr>
            <a:r>
              <a:rPr lang="en-US" sz="3231" spc="8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Execution time analysis shows O(n²) complexity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5661" y="8484412"/>
            <a:ext cx="24081996" cy="618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62"/>
              </a:lnSpc>
            </a:pPr>
            <a:r>
              <a:rPr lang="en-US" sz="3231" spc="8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project demonstrates graph representation and algorithm efficiency.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4242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3708128" y="3890751"/>
            <a:ext cx="13817871" cy="2513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591"/>
              </a:lnSpc>
            </a:pPr>
            <a:r>
              <a:rPr lang="en-US" sz="15638" b="1" spc="-390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684</Words>
  <Application>Microsoft Office PowerPoint</Application>
  <PresentationFormat>Custom</PresentationFormat>
  <Paragraphs>126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Poppins Light Bold</vt:lpstr>
      <vt:lpstr>Calibri</vt:lpstr>
      <vt:lpstr>Poppins Bold</vt:lpstr>
      <vt:lpstr>Poppins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Mini-Project-on-Directed-Graph-Using-Adjacency-Matrix.pptx</dc:title>
  <cp:lastModifiedBy>Pritom Bhowmik</cp:lastModifiedBy>
  <cp:revision>4</cp:revision>
  <dcterms:created xsi:type="dcterms:W3CDTF">2006-08-16T00:00:00Z</dcterms:created>
  <dcterms:modified xsi:type="dcterms:W3CDTF">2025-12-16T10:38:58Z</dcterms:modified>
  <dc:identifier>DAG7bA5438Y</dc:identifier>
</cp:coreProperties>
</file>